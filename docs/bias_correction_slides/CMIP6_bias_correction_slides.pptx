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97A3E"/>
                </a:solidFill>
                <a:latin typeface="Arial"/>
              </a:rPr>
              <a:t>OCEANICU  ·  ATMOSPHERIC FORCING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3EFE6"/>
                </a:solidFill>
                <a:latin typeface="Georgia"/>
              </a:rPr>
              <a:t>CMIP6 Meteo Bias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40"/>
            <a:ext cx="8961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7C4C9"/>
                </a:solidFill>
                <a:latin typeface="Arial"/>
              </a:rPr>
              <a:t>Quantile Delta Mapping of climate-model forcing against ERA5 — so the ocean model runs on a real climate signal, not model drift.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C9BA1"/>
                </a:solidFill>
                <a:latin typeface="Arial"/>
              </a:rPr>
              <a:t>ocean-prep · bias_correction_guide.md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85655" y="629107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8C9BA1"/>
                </a:solidFill>
                <a:latin typeface="Arial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97A3E"/>
                </a:solidFill>
                <a:latin typeface="Arial"/>
              </a:rPr>
              <a:t>THE PROBLEM, 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61288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3"/>
                </a:solidFill>
                <a:latin typeface="Georgia"/>
              </a:rPr>
              <a:t>Correcting a GCM's systematic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19656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4B5A62"/>
                </a:solidFill>
                <a:latin typeface="Arial"/>
              </a:rPr>
              <a:t>CMIP6 captures large-scale climate well but is consistently biased over a given region. Left alone, that bias becomes a spurious trend once it forces the ocean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88336"/>
            <a:ext cx="3829397" cy="457200"/>
          </a:xfrm>
          <a:prstGeom prst="rect">
            <a:avLst/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688336"/>
            <a:ext cx="360994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3EFE6"/>
                </a:solidFill>
                <a:latin typeface="Arial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4606637" y="2688336"/>
            <a:ext cx="2765675" cy="457200"/>
          </a:xfrm>
          <a:prstGeom prst="rect">
            <a:avLst/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6365" y="2688336"/>
            <a:ext cx="25462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3EFE6"/>
                </a:solidFill>
                <a:latin typeface="Arial"/>
              </a:rPr>
              <a:t>Corrects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72312" y="2688336"/>
            <a:ext cx="2340187" cy="457200"/>
          </a:xfrm>
          <a:prstGeom prst="rect">
            <a:avLst/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82040" y="2688336"/>
            <a:ext cx="21207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3EFE6"/>
                </a:solidFill>
                <a:latin typeface="Arial"/>
              </a:rPr>
              <a:t>Future trend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12499" y="2688336"/>
            <a:ext cx="1701954" cy="457200"/>
          </a:xfrm>
          <a:prstGeom prst="rect">
            <a:avLst/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2227" y="2688336"/>
            <a:ext cx="148249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3EFE6"/>
                </a:solidFill>
                <a:latin typeface="Arial"/>
              </a:rPr>
              <a:t>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45536"/>
            <a:ext cx="3829397" cy="4572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145536"/>
            <a:ext cx="360994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3"/>
                </a:solidFill>
                <a:latin typeface="Arial"/>
              </a:rPr>
              <a:t>Delta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6637" y="3145536"/>
            <a:ext cx="2765675" cy="4572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6365" y="3145536"/>
            <a:ext cx="25462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3"/>
                </a:solidFill>
                <a:latin typeface="Arial"/>
              </a:rPr>
              <a:t>Mean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2312" y="3145536"/>
            <a:ext cx="2340187" cy="4572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82040" y="3145536"/>
            <a:ext cx="21207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3"/>
                </a:solidFill>
                <a:latin typeface="Arial"/>
              </a:rPr>
              <a:t>Preserved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12499" y="3145536"/>
            <a:ext cx="1701954" cy="4572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2227" y="3145536"/>
            <a:ext cx="148249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3"/>
                </a:solidFill>
                <a:latin typeface="Arial"/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02736"/>
            <a:ext cx="3829397" cy="457200"/>
          </a:xfrm>
          <a:prstGeom prst="rect">
            <a:avLst/>
          </a:prstGeom>
          <a:solidFill>
            <a:srgbClr val="EF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02736"/>
            <a:ext cx="360994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3"/>
                </a:solidFill>
                <a:latin typeface="Arial"/>
              </a:rPr>
              <a:t>Quantile Mapping (QM)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06637" y="3602736"/>
            <a:ext cx="2765675" cy="457200"/>
          </a:xfrm>
          <a:prstGeom prst="rect">
            <a:avLst/>
          </a:prstGeom>
          <a:solidFill>
            <a:srgbClr val="EF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6365" y="3602736"/>
            <a:ext cx="25462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3"/>
                </a:solidFill>
                <a:latin typeface="Arial"/>
              </a:rPr>
              <a:t>Full distribution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2312" y="3602736"/>
            <a:ext cx="2340187" cy="457200"/>
          </a:xfrm>
          <a:prstGeom prst="rect">
            <a:avLst/>
          </a:prstGeom>
          <a:solidFill>
            <a:srgbClr val="EF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2040" y="3602736"/>
            <a:ext cx="21207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3"/>
                </a:solidFill>
                <a:latin typeface="Arial"/>
              </a:rPr>
              <a:t>Distorted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12499" y="3602736"/>
            <a:ext cx="1701954" cy="457200"/>
          </a:xfrm>
          <a:prstGeom prst="rect">
            <a:avLst/>
          </a:prstGeom>
          <a:solidFill>
            <a:srgbClr val="EF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2227" y="3602736"/>
            <a:ext cx="148249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2A33"/>
                </a:solidFill>
                <a:latin typeface="Arial"/>
              </a:rP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059936"/>
            <a:ext cx="3829397" cy="457200"/>
          </a:xfrm>
          <a:prstGeom prst="rect">
            <a:avLst/>
          </a:prstGeom>
          <a:solidFill>
            <a:srgbClr val="C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059936"/>
            <a:ext cx="360994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3"/>
                </a:solidFill>
                <a:latin typeface="Arial"/>
              </a:rPr>
              <a:t>Quantile Delta Mapping (QDM)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06637" y="4059936"/>
            <a:ext cx="2765675" cy="457200"/>
          </a:xfrm>
          <a:prstGeom prst="rect">
            <a:avLst/>
          </a:prstGeom>
          <a:solidFill>
            <a:srgbClr val="C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6365" y="4059936"/>
            <a:ext cx="25462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3"/>
                </a:solidFill>
                <a:latin typeface="Arial"/>
              </a:rPr>
              <a:t>Full distribution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2312" y="4059936"/>
            <a:ext cx="2340187" cy="457200"/>
          </a:xfrm>
          <a:prstGeom prst="rect">
            <a:avLst/>
          </a:prstGeom>
          <a:solidFill>
            <a:srgbClr val="C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82040" y="4059936"/>
            <a:ext cx="21207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3"/>
                </a:solidFill>
                <a:latin typeface="Arial"/>
              </a:rPr>
              <a:t>Preserved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12499" y="4059936"/>
            <a:ext cx="1701954" cy="457200"/>
          </a:xfrm>
          <a:prstGeom prst="rect">
            <a:avLst/>
          </a:prstGeom>
          <a:solidFill>
            <a:srgbClr val="C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2227" y="4059936"/>
            <a:ext cx="148249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3"/>
                </a:solidFill>
                <a:latin typeface="Arial"/>
              </a:rPr>
              <a:t>Medium–high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791456"/>
            <a:ext cx="10637215" cy="1600200"/>
          </a:xfrm>
          <a:prstGeom prst="roundRect">
            <a:avLst>
              <a:gd name="adj" fmla="val 8000"/>
            </a:avLst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956048"/>
            <a:ext cx="100885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C97A3E"/>
                </a:solidFill>
                <a:latin typeface="Arial"/>
              </a:rPr>
              <a:t>PRODUCTION METHOD — CANNON ET AL. (2015)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285232"/>
            <a:ext cx="10088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3EFE6"/>
                </a:solidFill>
                <a:latin typeface="Arial"/>
              </a:rPr>
              <a:t>At each quantile q, apply the reference-minus-historical delta to the future value: today's distribution is corrected while the GCM's own future climate-change signal survives untouched.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815584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C4C9"/>
                </a:solidFill>
                <a:latin typeface="Arial"/>
              </a:rPr>
              <a:t>future_bc = future + [ v_ref(q) − v_hist(q) ]   — additive (temperature)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6089904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7C4C9"/>
                </a:solidFill>
                <a:latin typeface="Arial"/>
              </a:rPr>
              <a:t>future_bc = future × [ v_ref(q) / v_hist(q) ]   — multiplicative (precipitation)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29107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B5A62"/>
                </a:solidFill>
                <a:latin typeface="Arial"/>
              </a:rPr>
              <a:t>Cannon, Sobie &amp; Murdock (2015), J. Climate 28(17)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85655" y="629107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4B5A62"/>
                </a:solidFill>
                <a:latin typeface="Arial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97A3E"/>
                </a:solidFill>
                <a:latin typeface="Arial"/>
              </a:rPr>
              <a:t>REAL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61288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3"/>
                </a:solidFill>
                <a:latin typeface="Georgia"/>
              </a:rPr>
              <a:t>Does it actually work? One point, one variable</a:t>
            </a:r>
          </a:p>
        </p:txBody>
      </p:sp>
      <p:pic>
        <p:nvPicPr>
          <p:cNvPr id="5" name="Picture 4" descr="tas_poin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938528"/>
            <a:ext cx="7863840" cy="43568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B5A62"/>
                </a:solidFill>
                <a:latin typeface="Arial"/>
              </a:rPr>
              <a:t>GFDL-ESM4, historical, 2009–2014 — real production output, not a mock-up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85655" y="629107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4B5A62"/>
                </a:solidFill>
                <a:latin typeface="Arial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97A3E"/>
                </a:solidFill>
                <a:latin typeface="Arial"/>
              </a:rPr>
              <a:t>REAL EXAMPLE, FUTURE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61288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3"/>
                </a:solidFill>
                <a:latin typeface="Georgia"/>
              </a:rPr>
              <a:t>No ERA5 in the future — so what does correction do there?</a:t>
            </a:r>
          </a:p>
        </p:txBody>
      </p:sp>
      <p:pic>
        <p:nvPicPr>
          <p:cNvPr id="5" name="Picture 4" descr="tas_future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892808"/>
            <a:ext cx="6675120" cy="4102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B5A62"/>
                </a:solidFill>
                <a:latin typeface="Arial"/>
              </a:rPr>
              <a:t>GFDL-ESM4, SSP1-2.6, 2015–2099 — real production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85655" y="629107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4B5A62"/>
                </a:solidFill>
                <a:latin typeface="Arial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97A3E"/>
                </a:solidFill>
                <a:latin typeface="Arial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61288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3EFE6"/>
                </a:solidFill>
                <a:latin typeface="Georgia"/>
              </a:rPr>
              <a:t>From ERA5 and CMIP6 to model-ready forcing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38528"/>
            <a:ext cx="3362858" cy="960120"/>
          </a:xfrm>
          <a:prstGeom prst="roundRect">
            <a:avLst>
              <a:gd name="adj" fmla="val 8000"/>
            </a:avLst>
          </a:prstGeom>
          <a:solidFill>
            <a:srgbClr val="24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75688"/>
            <a:ext cx="29056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EFE6"/>
                </a:solidFill>
                <a:latin typeface="Arial"/>
              </a:rPr>
              <a:t>ERA5 (ref)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14016"/>
            <a:ext cx="29056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7C4C9"/>
                </a:solidFill>
                <a:latin typeface="Arial"/>
              </a:rPr>
              <a:t>Hourly reanalysis, 1990–2014 calibration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938528"/>
            <a:ext cx="3362858" cy="960120"/>
          </a:xfrm>
          <a:prstGeom prst="roundRect">
            <a:avLst>
              <a:gd name="adj" fmla="val 8000"/>
            </a:avLst>
          </a:prstGeom>
          <a:solidFill>
            <a:srgbClr val="24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3018" y="2075688"/>
            <a:ext cx="29056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EFE6"/>
                </a:solidFill>
                <a:latin typeface="Arial"/>
              </a:rPr>
              <a:t>CMIP6 historical (hist)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018" y="2414016"/>
            <a:ext cx="29056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7C4C9"/>
                </a:solidFill>
                <a:latin typeface="Arial"/>
              </a:rPr>
              <a:t>Same model, same window, Amon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1596" y="1938528"/>
            <a:ext cx="3362858" cy="960120"/>
          </a:xfrm>
          <a:prstGeom prst="roundRect">
            <a:avLst>
              <a:gd name="adj" fmla="val 8000"/>
            </a:avLst>
          </a:prstGeom>
          <a:solidFill>
            <a:srgbClr val="24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196" y="2075688"/>
            <a:ext cx="29056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EFE6"/>
                </a:solidFill>
                <a:latin typeface="Arial"/>
              </a:rPr>
              <a:t>CMIP6 future (SSP)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196" y="2414016"/>
            <a:ext cx="29056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7C4C9"/>
                </a:solidFill>
                <a:latin typeface="Arial"/>
              </a:rPr>
              <a:t>2020–2099 projection to correct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94679" y="3063240"/>
            <a:ext cx="402336" cy="365760"/>
          </a:xfrm>
          <a:prstGeom prst="downArrow">
            <a:avLst/>
          </a:prstGeom>
          <a:solidFill>
            <a:srgbClr val="C9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2E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30752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EFE6"/>
                </a:solidFill>
                <a:latin typeface="Arial"/>
              </a:rPr>
              <a:t>bias_correct_forcings.py — per calendar month, QDM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133088"/>
            <a:ext cx="4929987" cy="713232"/>
          </a:xfrm>
          <a:prstGeom prst="roundRect">
            <a:avLst>
              <a:gd name="adj" fmla="val 8000"/>
            </a:avLst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224528"/>
            <a:ext cx="45642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7A3E"/>
                </a:solidFill>
                <a:latin typeface="Arial"/>
              </a:rPr>
              <a:t>[correct]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498848"/>
            <a:ext cx="45642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B7C4C9"/>
                </a:solidFill>
                <a:latin typeface="Arial"/>
              </a:rPr>
              <a:t>daily, bias-corrected — {var}_bc_{year}.nc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7" y="4133088"/>
            <a:ext cx="4929987" cy="713232"/>
          </a:xfrm>
          <a:prstGeom prst="roundRect">
            <a:avLst>
              <a:gd name="adj" fmla="val 8000"/>
            </a:avLst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3027" y="4224528"/>
            <a:ext cx="45642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7A3E"/>
                </a:solidFill>
                <a:latin typeface="Arial"/>
              </a:rPr>
              <a:t>[disaggregate]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3027" y="4498848"/>
            <a:ext cx="45642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B7C4C9"/>
                </a:solidFill>
                <a:latin typeface="Arial"/>
              </a:rPr>
              <a:t>+ ERA5 diurnal cycle — hourly {var}_bc_disagg_{year}.nc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166360"/>
            <a:ext cx="3362858" cy="960120"/>
          </a:xfrm>
          <a:prstGeom prst="roundRect">
            <a:avLst>
              <a:gd name="adj" fmla="val 8000"/>
            </a:avLst>
          </a:prstGeom>
          <a:solidFill>
            <a:srgbClr val="24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76088"/>
            <a:ext cx="29056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3EFE6"/>
                </a:solidFill>
                <a:latin typeface="Arial"/>
              </a:rPr>
              <a:t>1990–2014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60136"/>
            <a:ext cx="290565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7C4C9"/>
                </a:solidFill>
                <a:latin typeface="Arial"/>
              </a:rPr>
              <a:t>Calibration window — fixed by CMIP6's historical protocol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4418" y="5166360"/>
            <a:ext cx="3362858" cy="960120"/>
          </a:xfrm>
          <a:prstGeom prst="roundRect">
            <a:avLst>
              <a:gd name="adj" fmla="val 8000"/>
            </a:avLst>
          </a:prstGeom>
          <a:solidFill>
            <a:srgbClr val="24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3018" y="5276088"/>
            <a:ext cx="29056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3EFE6"/>
                </a:solidFill>
                <a:latin typeface="Arial"/>
              </a:rPr>
              <a:t>≈100 quantiles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3018" y="5660136"/>
            <a:ext cx="290565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7C4C9"/>
                </a:solidFill>
                <a:latin typeface="Arial"/>
              </a:rPr>
              <a:t>Daily data, ≈900 samples per calendar month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1596" y="5166360"/>
            <a:ext cx="3362858" cy="960120"/>
          </a:xfrm>
          <a:prstGeom prst="roundRect">
            <a:avLst>
              <a:gd name="adj" fmla="val 8000"/>
            </a:avLst>
          </a:prstGeom>
          <a:solidFill>
            <a:srgbClr val="243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0196" y="5276088"/>
            <a:ext cx="29056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3EFE6"/>
                </a:solidFill>
                <a:latin typeface="Arial"/>
              </a:rPr>
              <a:t>Exact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0196" y="5660136"/>
            <a:ext cx="290565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7C4C9"/>
                </a:solidFill>
                <a:latin typeface="Arial"/>
              </a:rPr>
              <a:t>Daily mean preserved — diurnal anomalies sum to zero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29107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C9BA1"/>
                </a:solidFill>
                <a:latin typeface="Arial"/>
              </a:rPr>
              <a:t>QA: bc diagnostics — calibration maps · seasonal cycle · trend · monthly breakdown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5655" y="629107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8C9BA1"/>
                </a:solidFill>
                <a:latin typeface="Arial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